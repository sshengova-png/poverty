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26280" cy="6858000"/>
          </a:xfrm>
          <a:prstGeom prst="rect">
            <a:avLst/>
          </a:prstGeom>
          <a:solidFill>
            <a:srgbClr val="26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5760720" cy="73152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ptos"/>
              </a:rPr>
              <a:t>Бедността: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6766560" cy="6858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3900" b="1" i="0">
                <a:solidFill>
                  <a:srgbClr val="F8C459"/>
                </a:solidFill>
                <a:latin typeface="Aptos"/>
              </a:rPr>
              <a:t>отвъд празния джоб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612648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2000" b="0" i="0">
                <a:solidFill>
                  <a:srgbClr val="DCE4EE"/>
                </a:solidFill>
                <a:latin typeface="Aptos"/>
              </a:rPr>
              <a:t>Материални, интелектуални и духовни измерения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658368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300" b="0" i="0">
                <a:solidFill>
                  <a:srgbClr val="E1E8F2"/>
                </a:solidFill>
                <a:latin typeface="Aptos"/>
              </a:rPr>
              <a:t>Контрастът показва, че бедността не е само финансова.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66760" y="914400"/>
            <a:ext cx="1371600" cy="4526280"/>
          </a:xfrm>
          <a:prstGeom prst="rect">
            <a:avLst/>
          </a:prstGeom>
          <a:solidFill>
            <a:srgbClr val="C3D3E2"/>
          </a:solidFill>
          <a:ln w="15240">
            <a:solidFill>
              <a:srgbClr val="E1E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66960" y="1417320"/>
            <a:ext cx="1051560" cy="4023360"/>
          </a:xfrm>
          <a:prstGeom prst="rect">
            <a:avLst/>
          </a:prstGeom>
          <a:solidFill>
            <a:srgbClr val="DAE3EC"/>
          </a:solidFill>
          <a:ln w="15240">
            <a:solidFill>
              <a:srgbClr val="EB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7072" y="1234440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34272" y="1234440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7072" y="1874519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34272" y="1874519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7072" y="2514600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34272" y="2514600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77072" y="3154679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4272" y="3154679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7072" y="3794760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4272" y="3794760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77072" y="4434840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4272" y="4434840"/>
            <a:ext cx="219456" cy="182880"/>
          </a:xfrm>
          <a:prstGeom prst="rect">
            <a:avLst/>
          </a:prstGeom>
          <a:solidFill>
            <a:srgbClr val="4C6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13848" y="1737360"/>
            <a:ext cx="420624" cy="155448"/>
          </a:xfrm>
          <a:prstGeom prst="rect">
            <a:avLst/>
          </a:prstGeom>
          <a:solidFill>
            <a:srgbClr val="56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13848" y="2395728"/>
            <a:ext cx="420624" cy="155448"/>
          </a:xfrm>
          <a:prstGeom prst="rect">
            <a:avLst/>
          </a:prstGeom>
          <a:solidFill>
            <a:srgbClr val="56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13848" y="3054096"/>
            <a:ext cx="420624" cy="155448"/>
          </a:xfrm>
          <a:prstGeom prst="rect">
            <a:avLst/>
          </a:prstGeom>
          <a:solidFill>
            <a:srgbClr val="56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13848" y="3712464"/>
            <a:ext cx="420624" cy="155448"/>
          </a:xfrm>
          <a:prstGeom prst="rect">
            <a:avLst/>
          </a:prstGeom>
          <a:solidFill>
            <a:srgbClr val="56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13848" y="4370831"/>
            <a:ext cx="420624" cy="155448"/>
          </a:xfrm>
          <a:prstGeom prst="rect">
            <a:avLst/>
          </a:prstGeom>
          <a:solidFill>
            <a:srgbClr val="566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8001000" y="4572000"/>
            <a:ext cx="2011680" cy="914400"/>
          </a:xfrm>
          <a:prstGeom prst="triangle">
            <a:avLst/>
          </a:prstGeom>
          <a:solidFill>
            <a:srgbClr val="794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5074920"/>
            <a:ext cx="1463040" cy="685800"/>
          </a:xfrm>
          <a:prstGeom prst="rect">
            <a:avLst/>
          </a:prstGeom>
          <a:solidFill>
            <a:srgbClr val="BE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23960" y="5257800"/>
            <a:ext cx="320040" cy="502920"/>
          </a:xfrm>
          <a:prstGeom prst="rect">
            <a:avLst/>
          </a:prstGeom>
          <a:solidFill>
            <a:srgbClr val="3A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5257800"/>
            <a:ext cx="256032" cy="201168"/>
          </a:xfrm>
          <a:prstGeom prst="rect">
            <a:avLst/>
          </a:prstGeom>
          <a:solidFill>
            <a:srgbClr val="F2D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08592" y="5257800"/>
            <a:ext cx="256032" cy="201168"/>
          </a:xfrm>
          <a:prstGeom prst="rect">
            <a:avLst/>
          </a:prstGeom>
          <a:solidFill>
            <a:srgbClr val="F2D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6263640"/>
            <a:ext cx="502920" cy="2286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r"/>
            <a:r>
              <a:rPr sz="1000" b="1" i="0">
                <a:solidFill>
                  <a:srgbClr val="B4BEC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04672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2800" b="1" i="0">
                <a:solidFill>
                  <a:srgbClr val="14243C"/>
                </a:solidFill>
                <a:latin typeface="Aptos"/>
              </a:rPr>
              <a:t>Какво е бедност?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60704"/>
            <a:ext cx="1005840" cy="54864"/>
          </a:xfrm>
          <a:prstGeom prst="rect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841248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500" b="0" i="0">
                <a:solidFill>
                  <a:srgbClr val="434E5E"/>
                </a:solidFill>
                <a:latin typeface="Aptos"/>
              </a:rPr>
              <a:t>Тя е повече от липса на пари.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931920" cy="384048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2400" b="1" i="0">
                <a:solidFill>
                  <a:srgbClr val="14243C"/>
                </a:solidFill>
                <a:latin typeface="Aptos"/>
              </a:rPr>
              <a:t>Бедността е липса на: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120640" cy="2011680"/>
          </a:xfrm>
          <a:prstGeom prst="rect">
            <a:avLst/>
          </a:prstGeom>
          <a:noFill/>
        </p:spPr>
        <p:txBody>
          <a:bodyPr wrap="square" lIns="73152" rIns="73152" tIns="18288" bIns="18288"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400" b="1">
                <a:solidFill>
                  <a:srgbClr val="EE8F2B"/>
                </a:solidFill>
                <a:latin typeface="Aptos"/>
              </a:rPr>
              <a:t>• </a:t>
            </a:r>
            <a:r>
              <a:rPr sz="2300">
                <a:solidFill>
                  <a:srgbClr val="3A4149"/>
                </a:solidFill>
                <a:latin typeface="Aptos"/>
              </a:rPr>
              <a:t>възможности за развитие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400" b="1">
                <a:solidFill>
                  <a:srgbClr val="EE8F2B"/>
                </a:solidFill>
                <a:latin typeface="Aptos"/>
              </a:rPr>
              <a:t>• </a:t>
            </a:r>
            <a:r>
              <a:rPr sz="2300">
                <a:solidFill>
                  <a:srgbClr val="3A4149"/>
                </a:solidFill>
                <a:latin typeface="Aptos"/>
              </a:rPr>
              <a:t>достъп до здравеопазване и образование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400" b="1">
                <a:solidFill>
                  <a:srgbClr val="EE8F2B"/>
                </a:solidFill>
                <a:latin typeface="Aptos"/>
              </a:rPr>
              <a:t>• </a:t>
            </a:r>
            <a:r>
              <a:rPr sz="2300">
                <a:solidFill>
                  <a:srgbClr val="3A4149"/>
                </a:solidFill>
                <a:latin typeface="Aptos"/>
              </a:rPr>
              <a:t>достоен и сигурен начин на живот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83480"/>
            <a:ext cx="5760720" cy="640080"/>
          </a:xfrm>
          <a:prstGeom prst="round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Линия на бедност в България, 2024 г.: 764 лв.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417320"/>
            <a:ext cx="393192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28800"/>
            <a:ext cx="32918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2200" b="1" i="0">
                <a:solidFill>
                  <a:srgbClr val="14243C"/>
                </a:solidFill>
                <a:latin typeface="Aptos"/>
              </a:rPr>
              <a:t>Материална бедност</a:t>
            </a:r>
          </a:p>
        </p:txBody>
      </p:sp>
      <p:sp>
        <p:nvSpPr>
          <p:cNvPr id="11" name="Cloud 10"/>
          <p:cNvSpPr/>
          <p:nvPr/>
        </p:nvSpPr>
        <p:spPr>
          <a:xfrm>
            <a:off x="7726679" y="2514600"/>
            <a:ext cx="1005840" cy="713232"/>
          </a:xfrm>
          <a:prstGeom prst="cloud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8028431" y="2880360"/>
            <a:ext cx="45720" cy="841248"/>
          </a:xfrm>
          <a:prstGeom prst="lineInv">
            <a:avLst/>
          </a:prstGeom>
          <a:solidFill>
            <a:srgbClr val="E1E7EE"/>
          </a:solidFill>
          <a:ln w="15240">
            <a:solidFill>
              <a:srgbClr val="808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96528" y="2606040"/>
            <a:ext cx="1234440" cy="1097280"/>
          </a:xfrm>
          <a:prstGeom prst="rect">
            <a:avLst/>
          </a:prstGeom>
          <a:solidFill>
            <a:srgbClr val="DFB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8641080" y="2148840"/>
            <a:ext cx="1554480" cy="731520"/>
          </a:xfrm>
          <a:prstGeom prst="triangle">
            <a:avLst/>
          </a:prstGeom>
          <a:solidFill>
            <a:srgbClr val="7E5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17152" y="3063240"/>
            <a:ext cx="320040" cy="640080"/>
          </a:xfrm>
          <a:prstGeom prst="rect">
            <a:avLst/>
          </a:prstGeom>
          <a:solidFill>
            <a:srgbClr val="3A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35240" y="4069080"/>
            <a:ext cx="2468880" cy="320040"/>
          </a:xfrm>
          <a:prstGeom prst="ellipse">
            <a:avLst/>
          </a:prstGeom>
          <a:solidFill>
            <a:srgbClr val="D2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7" y="4663440"/>
            <a:ext cx="320040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1500" b="0" i="0">
                <a:solidFill>
                  <a:srgbClr val="434E5E"/>
                </a:solidFill>
                <a:latin typeface="Aptos"/>
              </a:rPr>
              <a:t>Най-видимата форма, но не и единствената.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263640"/>
            <a:ext cx="502920" cy="2286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r"/>
            <a:r>
              <a:rPr sz="1000" b="1" i="0">
                <a:solidFill>
                  <a:srgbClr val="80899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04672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2800" b="1" i="0">
                <a:solidFill>
                  <a:srgbClr val="14243C"/>
                </a:solidFill>
                <a:latin typeface="Aptos"/>
              </a:rPr>
              <a:t>Бедността на ума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60704"/>
            <a:ext cx="1005840" cy="54864"/>
          </a:xfrm>
          <a:prstGeom prst="rect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841248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500" b="0" i="0">
                <a:solidFill>
                  <a:srgbClr val="434E5E"/>
                </a:solidFill>
                <a:latin typeface="Aptos"/>
              </a:rPr>
              <a:t>Знанието е единственият капитал, който не се губи.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623560" cy="2331720"/>
          </a:xfrm>
          <a:prstGeom prst="rect">
            <a:avLst/>
          </a:prstGeom>
          <a:noFill/>
        </p:spPr>
        <p:txBody>
          <a:bodyPr wrap="square" lIns="73152" rIns="73152" tIns="18288" bIns="18288"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300" b="1">
                <a:solidFill>
                  <a:srgbClr val="14243C"/>
                </a:solidFill>
                <a:latin typeface="Aptos"/>
              </a:rPr>
              <a:t>• </a:t>
            </a:r>
            <a:r>
              <a:rPr sz="2200">
                <a:solidFill>
                  <a:srgbClr val="3A4149"/>
                </a:solidFill>
                <a:latin typeface="Aptos"/>
              </a:rPr>
              <a:t>Липсата на образование създава цикъл на бедност.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300" b="1">
                <a:solidFill>
                  <a:srgbClr val="14243C"/>
                </a:solidFill>
                <a:latin typeface="Aptos"/>
              </a:rPr>
              <a:t>• </a:t>
            </a:r>
            <a:r>
              <a:rPr sz="2200">
                <a:solidFill>
                  <a:srgbClr val="3A4149"/>
                </a:solidFill>
                <a:latin typeface="Aptos"/>
              </a:rPr>
              <a:t>Недостигът на знания ни прави лесни за манипулация.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300" b="1">
                <a:solidFill>
                  <a:srgbClr val="14243C"/>
                </a:solidFill>
                <a:latin typeface="Aptos"/>
              </a:rPr>
              <a:t>• </a:t>
            </a:r>
            <a:r>
              <a:rPr sz="2200">
                <a:solidFill>
                  <a:srgbClr val="3A4149"/>
                </a:solidFill>
                <a:latin typeface="Aptos"/>
              </a:rPr>
              <a:t>Образованието отваря избори, професии и глас.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" y="4946903"/>
            <a:ext cx="5943600" cy="822960"/>
          </a:xfrm>
          <a:prstGeom prst="round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4892040"/>
            <a:ext cx="59436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892040"/>
            <a:ext cx="109728" cy="822960"/>
          </a:xfrm>
          <a:prstGeom prst="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093207"/>
            <a:ext cx="5532120" cy="310896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700" b="1" i="0">
                <a:solidFill>
                  <a:srgbClr val="14243C"/>
                </a:solidFill>
                <a:latin typeface="Aptos"/>
              </a:rPr>
              <a:t>Статистика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68696"/>
            <a:ext cx="5532120" cy="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400" b="0" i="0">
                <a:solidFill>
                  <a:srgbClr val="3A4149"/>
                </a:solidFill>
                <a:latin typeface="Aptos"/>
              </a:rPr>
              <a:t>Рискът от бедност при висшистите е около 10 пъти по-нисък, отколкото при хората без образование.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508760"/>
            <a:ext cx="3474720" cy="4343400"/>
          </a:xfrm>
          <a:prstGeom prst="roundRect">
            <a:avLst/>
          </a:prstGeom>
          <a:solidFill>
            <a:srgbClr val="EFF4F9"/>
          </a:solidFill>
          <a:ln w="1524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8120" y="2788920"/>
            <a:ext cx="292608" cy="1417320"/>
          </a:xfrm>
          <a:prstGeom prst="round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72984" y="2953512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72984" y="3099815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65592" y="2697479"/>
            <a:ext cx="292608" cy="1417320"/>
          </a:xfrm>
          <a:prstGeom prst="roundRect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2862072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3008375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13064" y="2606039"/>
            <a:ext cx="292608" cy="1417320"/>
          </a:xfrm>
          <a:prstGeom prst="roundRect">
            <a:avLst/>
          </a:prstGeom>
          <a:solidFill>
            <a:srgbClr val="49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67928" y="2770632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67928" y="2916935"/>
            <a:ext cx="1828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80" y="4178808"/>
            <a:ext cx="1371600" cy="109728"/>
          </a:xfrm>
          <a:prstGeom prst="rect">
            <a:avLst/>
          </a:prstGeom>
          <a:solidFill>
            <a:srgbClr val="43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9418320" y="4663440"/>
            <a:ext cx="1188720" cy="-1234440"/>
          </a:xfrm>
          <a:prstGeom prst="lineInv">
            <a:avLst/>
          </a:prstGeom>
          <a:solidFill>
            <a:srgbClr val="FFFFFF"/>
          </a:solidFill>
          <a:ln w="15240">
            <a:solidFill>
              <a:srgbClr val="498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0369296" y="3227832"/>
            <a:ext cx="320040" cy="320040"/>
          </a:xfrm>
          <a:prstGeom prst="triangle">
            <a:avLst/>
          </a:prstGeom>
          <a:solidFill>
            <a:srgbClr val="49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5166360"/>
            <a:ext cx="265176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1700" b="1" i="0">
                <a:solidFill>
                  <a:srgbClr val="498F5D"/>
                </a:solidFill>
                <a:latin typeface="Aptos"/>
              </a:rPr>
              <a:t>учене → възможности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63640"/>
            <a:ext cx="502920" cy="2286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r"/>
            <a:r>
              <a:rPr sz="1000" b="1" i="0">
                <a:solidFill>
                  <a:srgbClr val="80899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04672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Духовната бедност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60704"/>
            <a:ext cx="1005840" cy="54864"/>
          </a:xfrm>
          <a:prstGeom prst="rect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841248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500" b="0" i="0">
                <a:solidFill>
                  <a:srgbClr val="D7DFEA"/>
                </a:solidFill>
                <a:latin typeface="Aptos"/>
              </a:rPr>
              <a:t>Празният дух в пълния костюм.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852160" cy="2834640"/>
          </a:xfrm>
          <a:prstGeom prst="rect">
            <a:avLst/>
          </a:prstGeom>
          <a:noFill/>
        </p:spPr>
        <p:txBody>
          <a:bodyPr wrap="square" lIns="73152" rIns="73152" tIns="18288" bIns="18288">
            <a:norm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300" b="1">
                <a:solidFill>
                  <a:srgbClr val="F8C459"/>
                </a:solidFill>
                <a:latin typeface="Aptos"/>
              </a:rPr>
              <a:t>• </a:t>
            </a:r>
            <a:r>
              <a:rPr sz="2200">
                <a:solidFill>
                  <a:srgbClr val="E6EBF3"/>
                </a:solidFill>
                <a:latin typeface="Aptos"/>
              </a:rPr>
              <a:t>Липса на емпатия, ценности и чувство за отговорност.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300" b="1">
                <a:solidFill>
                  <a:srgbClr val="F8C459"/>
                </a:solidFill>
                <a:latin typeface="Aptos"/>
              </a:rPr>
              <a:t>• </a:t>
            </a:r>
            <a:r>
              <a:rPr sz="2200">
                <a:solidFill>
                  <a:srgbClr val="E6EBF3"/>
                </a:solidFill>
                <a:latin typeface="Aptos"/>
              </a:rPr>
              <a:t>Можеш да имаш милиони, но да си просяк в душата си.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300" b="1">
                <a:solidFill>
                  <a:srgbClr val="F8C459"/>
                </a:solidFill>
                <a:latin typeface="Aptos"/>
              </a:rPr>
              <a:t>• </a:t>
            </a:r>
            <a:r>
              <a:rPr sz="2200">
                <a:solidFill>
                  <a:srgbClr val="E6EBF3"/>
                </a:solidFill>
                <a:latin typeface="Aptos"/>
              </a:rPr>
              <a:t>Симптоми: безразличие, егоизъм, липса на културни потребности.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54480"/>
            <a:ext cx="3611880" cy="4434840"/>
          </a:xfrm>
          <a:prstGeom prst="roundRect">
            <a:avLst/>
          </a:prstGeom>
          <a:solidFill>
            <a:srgbClr val="192C48"/>
          </a:solidFill>
          <a:ln w="15240">
            <a:solidFill>
              <a:srgbClr val="48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22208" y="1874519"/>
            <a:ext cx="1143000" cy="1143000"/>
          </a:xfrm>
          <a:prstGeom prst="ellipse">
            <a:avLst/>
          </a:prstGeom>
          <a:solidFill>
            <a:srgbClr val="E2C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pezoid 8"/>
          <p:cNvSpPr/>
          <p:nvPr/>
        </p:nvSpPr>
        <p:spPr>
          <a:xfrm>
            <a:off x="8065008" y="3063240"/>
            <a:ext cx="2057400" cy="2331720"/>
          </a:xfrm>
          <a:prstGeom prst="trapezoid">
            <a:avLst/>
          </a:prstGeom>
          <a:solidFill>
            <a:srgbClr val="3A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8531352" y="3063240"/>
            <a:ext cx="1097280" cy="105156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8924544" y="3246120"/>
            <a:ext cx="274320" cy="438912"/>
          </a:xfrm>
          <a:prstGeom prst="triangle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art 11"/>
          <p:cNvSpPr/>
          <p:nvPr/>
        </p:nvSpPr>
        <p:spPr>
          <a:xfrm>
            <a:off x="8357616" y="4224528"/>
            <a:ext cx="1463040" cy="1234440"/>
          </a:xfrm>
          <a:prstGeom prst="heart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4636008"/>
            <a:ext cx="11430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ценности</a:t>
            </a:r>
          </a:p>
        </p:txBody>
      </p:sp>
      <p:sp>
        <p:nvSpPr>
          <p:cNvPr id="14" name="Lightning Bolt 13"/>
          <p:cNvSpPr/>
          <p:nvPr/>
        </p:nvSpPr>
        <p:spPr>
          <a:xfrm>
            <a:off x="8951976" y="4315968"/>
            <a:ext cx="274320" cy="1005840"/>
          </a:xfrm>
          <a:prstGeom prst="lightningBol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5532120"/>
            <a:ext cx="27889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1400" b="0" i="0">
                <a:solidFill>
                  <a:srgbClr val="E1E7EF"/>
                </a:solidFill>
                <a:latin typeface="Aptos"/>
              </a:rPr>
              <a:t>Богатство без човечност остава празно.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63640"/>
            <a:ext cx="502920" cy="2286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r"/>
            <a:r>
              <a:rPr sz="1000" b="1" i="0">
                <a:solidFill>
                  <a:srgbClr val="B4BEC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04672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2800" b="1" i="0">
                <a:solidFill>
                  <a:srgbClr val="14243C"/>
                </a:solidFill>
                <a:latin typeface="Aptos"/>
              </a:rPr>
              <a:t>Парадоксът на богатството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60704"/>
            <a:ext cx="1005840" cy="54864"/>
          </a:xfrm>
          <a:prstGeom prst="rect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841248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500" b="0" i="0">
                <a:solidFill>
                  <a:srgbClr val="434E5E"/>
                </a:solidFill>
                <a:latin typeface="Aptos"/>
              </a:rPr>
              <a:t>Материалното и духовното богатство невинаги вървят заедно.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3" y="1792224"/>
            <a:ext cx="4983480" cy="2880360"/>
          </a:xfrm>
          <a:prstGeom prst="round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498348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109728" cy="2880360"/>
          </a:xfrm>
          <a:prstGeom prst="rect">
            <a:avLst/>
          </a:prstGeom>
          <a:solidFill>
            <a:srgbClr val="49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4572000" cy="310896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700" b="1" i="0">
                <a:solidFill>
                  <a:srgbClr val="14243C"/>
                </a:solidFill>
                <a:latin typeface="Aptos"/>
              </a:rPr>
              <a:t>Материално беден, но духовно богат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14015"/>
            <a:ext cx="4572000" cy="20574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400" b="0" i="0">
                <a:solidFill>
                  <a:srgbClr val="3A4149"/>
                </a:solidFill>
                <a:latin typeface="Aptos"/>
              </a:rPr>
              <a:t>Хора с малко средства, но с висок морал, доброта и готовност да помагат. Пример: Дядо Добри.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01383" y="1792224"/>
            <a:ext cx="4983480" cy="2880360"/>
          </a:xfrm>
          <a:prstGeom prst="round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737360"/>
            <a:ext cx="498348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737360"/>
            <a:ext cx="109728" cy="2880360"/>
          </a:xfrm>
          <a:prstGeom prst="rect">
            <a:avLst/>
          </a:prstGeom>
          <a:solidFill>
            <a:srgbClr val="B04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38528"/>
            <a:ext cx="4572000" cy="310896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700" b="1" i="0">
                <a:solidFill>
                  <a:srgbClr val="14243C"/>
                </a:solidFill>
                <a:latin typeface="Aptos"/>
              </a:rPr>
              <a:t>Материално богат, но духовно беден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14015"/>
            <a:ext cx="4572000" cy="20574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400" b="0" i="0">
                <a:solidFill>
                  <a:srgbClr val="3A4149"/>
                </a:solidFill>
                <a:latin typeface="Aptos"/>
              </a:rPr>
              <a:t>Хора с огромни възможности, но без капка човечност, състрадание или културна чувствителност.</a:t>
            </a:r>
          </a:p>
        </p:txBody>
      </p:sp>
      <p:sp>
        <p:nvSpPr>
          <p:cNvPr id="16" name="Left-Right Arrow 15"/>
          <p:cNvSpPr/>
          <p:nvPr/>
        </p:nvSpPr>
        <p:spPr>
          <a:xfrm>
            <a:off x="5696712" y="2788920"/>
            <a:ext cx="777240" cy="502920"/>
          </a:xfrm>
          <a:prstGeom prst="leftRightArrow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28800" y="5074920"/>
            <a:ext cx="8549640" cy="713232"/>
          </a:xfrm>
          <a:prstGeom prst="round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i="1" b="1">
                <a:solidFill>
                  <a:srgbClr val="F8C459"/>
                </a:solidFill>
                <a:latin typeface="Aptos"/>
              </a:rPr>
              <a:t>„Най-бедният човек е този, който има само пари.“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263640"/>
            <a:ext cx="502920" cy="2286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r"/>
            <a:r>
              <a:rPr sz="1000" b="1" i="0">
                <a:solidFill>
                  <a:srgbClr val="80899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04672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2800" b="1" i="0">
                <a:solidFill>
                  <a:srgbClr val="14243C"/>
                </a:solidFill>
                <a:latin typeface="Aptos"/>
              </a:rPr>
              <a:t>Как се борим с бедността?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60704"/>
            <a:ext cx="1005840" cy="54864"/>
          </a:xfrm>
          <a:prstGeom prst="rect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841248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1500" b="0" i="0">
                <a:solidFill>
                  <a:srgbClr val="434E5E"/>
                </a:solidFill>
                <a:latin typeface="Aptos"/>
              </a:rPr>
              <a:t>Трите измерения изискват три вида действие.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063240" cy="356616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93391" y="2121408"/>
            <a:ext cx="786384" cy="786384"/>
          </a:xfrm>
          <a:prstGeom prst="ellipse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12848" y="2267712"/>
            <a:ext cx="347472" cy="27432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154680"/>
            <a:ext cx="2487168" cy="5486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2100" b="1" i="0">
                <a:solidFill>
                  <a:srgbClr val="14243C"/>
                </a:solidFill>
                <a:latin typeface="Aptos"/>
              </a:rPr>
              <a:t>Четене и учене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3950208"/>
            <a:ext cx="2331720" cy="86868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1500" b="0" i="0">
                <a:solidFill>
                  <a:srgbClr val="3A4149"/>
                </a:solidFill>
                <a:latin typeface="Aptos"/>
              </a:rPr>
              <a:t>Борба с бедността на ума чрез знания, критично мислене и образование.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063240" cy="356616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96712" y="2121408"/>
            <a:ext cx="786384" cy="786384"/>
          </a:xfrm>
          <a:prstGeom prst="ellipse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6168" y="2267712"/>
            <a:ext cx="347472" cy="27432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3154680"/>
            <a:ext cx="2487168" cy="5486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2100" b="1" i="0">
                <a:solidFill>
                  <a:srgbClr val="14243C"/>
                </a:solidFill>
                <a:latin typeface="Aptos"/>
              </a:rPr>
              <a:t>Доброволчество и помощ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3950208"/>
            <a:ext cx="2331720" cy="86868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1500" b="0" i="0">
                <a:solidFill>
                  <a:srgbClr val="3A4149"/>
                </a:solidFill>
                <a:latin typeface="Aptos"/>
              </a:rPr>
              <a:t>Борба с духовната бедност чрез емпатия, грижа и общност.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1828800"/>
            <a:ext cx="3063240" cy="356616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00032" y="2121408"/>
            <a:ext cx="786384" cy="786384"/>
          </a:xfrm>
          <a:prstGeom prst="ellipse">
            <a:avLst/>
          </a:prstGeom>
          <a:solidFill>
            <a:srgbClr val="49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2267712"/>
            <a:ext cx="347472" cy="27432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3154680"/>
            <a:ext cx="2487168" cy="54864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2100" b="1" i="0">
                <a:solidFill>
                  <a:srgbClr val="14243C"/>
                </a:solidFill>
                <a:latin typeface="Aptos"/>
              </a:rPr>
              <a:t>Икономическа активност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7" y="3950208"/>
            <a:ext cx="2331720" cy="86868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1500" b="0" i="0">
                <a:solidFill>
                  <a:srgbClr val="3A4149"/>
                </a:solidFill>
                <a:latin typeface="Aptos"/>
              </a:rPr>
              <a:t>Борба с материалната бедност чрез труд, умения и предприемчивост.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456432" y="3310128"/>
            <a:ext cx="457200" cy="274320"/>
          </a:xfrm>
          <a:prstGeom prst="rightArrow">
            <a:avLst/>
          </a:prstGeom>
          <a:solidFill>
            <a:srgbClr val="F8C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159752" y="3310128"/>
            <a:ext cx="457200" cy="274320"/>
          </a:xfrm>
          <a:prstGeom prst="rightArrow">
            <a:avLst/>
          </a:prstGeom>
          <a:solidFill>
            <a:srgbClr val="F8C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6263640"/>
            <a:ext cx="502920" cy="2286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r"/>
            <a:r>
              <a:rPr sz="1000" b="1" i="0">
                <a:solidFill>
                  <a:srgbClr val="80899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411480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"/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875520" cy="11430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ptos"/>
              </a:rPr>
              <a:t>Истинското богатство е в това, което даваш,
а не само в това, което притежаваш.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886200"/>
            <a:ext cx="9464040" cy="1051560"/>
          </a:xfrm>
          <a:prstGeom prst="roundRect">
            <a:avLst/>
          </a:prstGeom>
          <a:solidFill>
            <a:srgbClr val="1D3352"/>
          </a:solidFill>
          <a:ln w="15240">
            <a:solidFill>
              <a:srgbClr val="566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4187952"/>
            <a:ext cx="8823960" cy="41148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2300" b="1" i="0">
                <a:solidFill>
                  <a:srgbClr val="F8C459"/>
                </a:solidFill>
                <a:latin typeface="Aptos"/>
              </a:rPr>
              <a:t>Коя бедност ви плаши повече – тази на портфейла или тази на сърцето?</a:t>
            </a:r>
          </a:p>
        </p:txBody>
      </p:sp>
      <p:sp>
        <p:nvSpPr>
          <p:cNvPr id="8" name="Heart 7"/>
          <p:cNvSpPr/>
          <p:nvPr/>
        </p:nvSpPr>
        <p:spPr>
          <a:xfrm>
            <a:off x="5303520" y="5440680"/>
            <a:ext cx="640080" cy="548640"/>
          </a:xfrm>
          <a:prstGeom prst="heart">
            <a:avLst/>
          </a:prstGeom>
          <a:solidFill>
            <a:srgbClr val="EE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5458968"/>
            <a:ext cx="594360" cy="594360"/>
          </a:xfrm>
          <a:prstGeom prst="ellipse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5559552"/>
            <a:ext cx="256032" cy="256032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ctr"/>
            <a:r>
              <a:rPr sz="2400" b="1" i="0">
                <a:solidFill>
                  <a:srgbClr val="14243C"/>
                </a:solidFill>
                <a:latin typeface="Aptos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263640"/>
            <a:ext cx="502920" cy="228600"/>
          </a:xfrm>
          <a:prstGeom prst="rect">
            <a:avLst/>
          </a:prstGeom>
          <a:noFill/>
        </p:spPr>
        <p:txBody>
          <a:bodyPr wrap="square" lIns="73152" rIns="73152" tIns="27432" bIns="27432">
            <a:normAutofit/>
          </a:bodyPr>
          <a:lstStyle/>
          <a:p>
            <a:pPr algn="r"/>
            <a:r>
              <a:rPr sz="1000" b="1" i="0">
                <a:solidFill>
                  <a:srgbClr val="B4BEC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Бедността: отвъд празния джоб</dc:title>
  <dc:subject>Материални, интелектуални и духовни измерения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bg-BG</dc:language>
</cp:coreProperties>
</file>