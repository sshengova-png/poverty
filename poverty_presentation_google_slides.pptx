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52360" y="0"/>
            <a:ext cx="4754880" cy="6858000"/>
          </a:xfrm>
          <a:prstGeom prst="rect">
            <a:avLst/>
          </a:prstGeom>
          <a:solidFill>
            <a:srgbClr val="1C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6903720" y="-320040"/>
            <a:ext cx="5303520" cy="5303520"/>
          </a:xfrm>
          <a:prstGeom prst="arc">
            <a:avLst/>
          </a:prstGeom>
          <a:solidFill>
            <a:srgbClr val="385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635240" y="1143000"/>
            <a:ext cx="4251960" cy="4251960"/>
          </a:xfrm>
          <a:prstGeom prst="arc">
            <a:avLst/>
          </a:prstGeom>
          <a:solidFill>
            <a:srgbClr val="446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960120"/>
            <a:ext cx="5760720" cy="676656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4700" b="1" i="0">
                <a:solidFill>
                  <a:srgbClr val="FFFFFF"/>
                </a:solidFill>
                <a:latin typeface="Arial"/>
              </a:rPr>
              <a:t>Бедността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00784"/>
            <a:ext cx="6766560" cy="6583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3800" b="1" i="0">
                <a:solidFill>
                  <a:srgbClr val="F9C449"/>
                </a:solidFill>
                <a:latin typeface="Arial"/>
              </a:rPr>
              <a:t>отвъд празния джоб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670048"/>
            <a:ext cx="5943600" cy="512064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2000" b="0" i="0">
                <a:solidFill>
                  <a:srgbClr val="E0E8F4"/>
                </a:solidFill>
                <a:latin typeface="Arial"/>
              </a:rPr>
              <a:t>Материални, интелектуални и духовни измерения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230368"/>
            <a:ext cx="630936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1300" b="0" i="0">
                <a:solidFill>
                  <a:srgbClr val="E0E8F4"/>
                </a:solidFill>
                <a:latin typeface="Arial"/>
              </a:rPr>
              <a:t>Кратка презентация за видимата и невидимата бедност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987552"/>
            <a:ext cx="1225296" cy="4315968"/>
          </a:xfrm>
          <a:prstGeom prst="rect">
            <a:avLst/>
          </a:prstGeom>
          <a:solidFill>
            <a:srgbClr val="C6D8E8"/>
          </a:solidFill>
          <a:ln w="12700">
            <a:solidFill>
              <a:srgbClr val="E2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84080" y="1417320"/>
            <a:ext cx="1005840" cy="3886200"/>
          </a:xfrm>
          <a:prstGeom prst="rect">
            <a:avLst/>
          </a:prstGeom>
          <a:solidFill>
            <a:srgbClr val="E1EAF2"/>
          </a:solidFill>
          <a:ln w="12700">
            <a:solidFill>
              <a:srgbClr val="EC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85632" y="1243584"/>
            <a:ext cx="201168" cy="164592"/>
          </a:xfrm>
          <a:prstGeom prst="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24544" y="1243584"/>
            <a:ext cx="201168" cy="164592"/>
          </a:xfrm>
          <a:prstGeom prst="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85632" y="1847088"/>
            <a:ext cx="201168" cy="164592"/>
          </a:xfrm>
          <a:prstGeom prst="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24544" y="1847088"/>
            <a:ext cx="201168" cy="164592"/>
          </a:xfrm>
          <a:prstGeom prst="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85632" y="2450592"/>
            <a:ext cx="201168" cy="164592"/>
          </a:xfrm>
          <a:prstGeom prst="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4544" y="2450592"/>
            <a:ext cx="201168" cy="164592"/>
          </a:xfrm>
          <a:prstGeom prst="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85632" y="3054096"/>
            <a:ext cx="201168" cy="164592"/>
          </a:xfrm>
          <a:prstGeom prst="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24544" y="3054096"/>
            <a:ext cx="201168" cy="164592"/>
          </a:xfrm>
          <a:prstGeom prst="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85632" y="3657600"/>
            <a:ext cx="201168" cy="164592"/>
          </a:xfrm>
          <a:prstGeom prst="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24544" y="3657600"/>
            <a:ext cx="201168" cy="164592"/>
          </a:xfrm>
          <a:prstGeom prst="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85632" y="4261104"/>
            <a:ext cx="201168" cy="164592"/>
          </a:xfrm>
          <a:prstGeom prst="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24544" y="4261104"/>
            <a:ext cx="201168" cy="164592"/>
          </a:xfrm>
          <a:prstGeom prst="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2680" y="1737360"/>
            <a:ext cx="384048" cy="137160"/>
          </a:xfrm>
          <a:prstGeom prst="rect">
            <a:avLst/>
          </a:prstGeom>
          <a:solidFill>
            <a:srgbClr val="566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12680" y="2377439"/>
            <a:ext cx="384048" cy="137160"/>
          </a:xfrm>
          <a:prstGeom prst="rect">
            <a:avLst/>
          </a:prstGeom>
          <a:solidFill>
            <a:srgbClr val="566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12680" y="3017520"/>
            <a:ext cx="384048" cy="137160"/>
          </a:xfrm>
          <a:prstGeom prst="rect">
            <a:avLst/>
          </a:prstGeom>
          <a:solidFill>
            <a:srgbClr val="566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12680" y="3657599"/>
            <a:ext cx="384048" cy="137160"/>
          </a:xfrm>
          <a:prstGeom prst="rect">
            <a:avLst/>
          </a:prstGeom>
          <a:solidFill>
            <a:srgbClr val="566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12680" y="4297679"/>
            <a:ext cx="384048" cy="137160"/>
          </a:xfrm>
          <a:prstGeom prst="rect">
            <a:avLst/>
          </a:prstGeom>
          <a:solidFill>
            <a:srgbClr val="566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>
            <a:off x="7882127" y="4636008"/>
            <a:ext cx="1874519" cy="841248"/>
          </a:xfrm>
          <a:prstGeom prst="triangle">
            <a:avLst/>
          </a:prstGeom>
          <a:solidFill>
            <a:srgbClr val="794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5102352"/>
            <a:ext cx="1371600" cy="694944"/>
          </a:xfrm>
          <a:prstGeom prst="rect">
            <a:avLst/>
          </a:prstGeom>
          <a:solidFill>
            <a:srgbClr val="BF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68512" y="5276088"/>
            <a:ext cx="310896" cy="521207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18120" y="5605272"/>
            <a:ext cx="3429000" cy="292608"/>
          </a:xfrm>
          <a:prstGeom prst="ellipse">
            <a:avLst/>
          </a:prstGeom>
          <a:solidFill>
            <a:srgbClr val="0D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18520" y="6272784"/>
            <a:ext cx="502920" cy="2011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r"/>
            <a:r>
              <a:rPr sz="1000" b="1" i="0">
                <a:solidFill>
                  <a:srgbClr val="ACB9CA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8046720" cy="5029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2900" b="1" i="0">
                <a:solidFill>
                  <a:srgbClr val="12223A"/>
                </a:solidFill>
                <a:latin typeface="Arial"/>
              </a:rPr>
              <a:t>Какво е бедност?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978408"/>
            <a:ext cx="1051560" cy="73152"/>
          </a:xfrm>
          <a:prstGeom prst="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8412480" cy="347472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1500" b="0" i="0">
                <a:solidFill>
                  <a:srgbClr val="4C5664"/>
                </a:solidFill>
                <a:latin typeface="Arial"/>
              </a:rPr>
              <a:t>Бедността не е само липса на пари.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384048"/>
            <a:ext cx="1783080" cy="347472"/>
          </a:xfrm>
          <a:prstGeom prst="round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ДЕФИНИЦИЯ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1874519"/>
            <a:ext cx="5166360" cy="2971800"/>
          </a:xfrm>
          <a:prstGeom prst="round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51663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810512"/>
            <a:ext cx="128016" cy="2971800"/>
          </a:xfrm>
          <a:prstGeom prst="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2020824"/>
            <a:ext cx="4663440" cy="3931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1700" b="1" i="0">
                <a:solidFill>
                  <a:srgbClr val="12223A"/>
                </a:solidFill>
                <a:latin typeface="Arial"/>
              </a:rPr>
              <a:t>Тя е липса на: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2578608"/>
            <a:ext cx="4663440" cy="2039112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1400" b="0" i="0">
                <a:solidFill>
                  <a:srgbClr val="4C5664"/>
                </a:solidFill>
                <a:latin typeface="Arial"/>
              </a:rPr>
              <a:t>възможности за развитие
достъп до здравеопазване и образование
достоен и сигурен начин на живот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175504"/>
            <a:ext cx="4892040" cy="7772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5358384"/>
            <a:ext cx="4489703" cy="4114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3000" b="1" i="0">
                <a:solidFill>
                  <a:srgbClr val="F9C449"/>
                </a:solidFill>
                <a:latin typeface="Arial"/>
              </a:rPr>
              <a:t>764 лв.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925312"/>
            <a:ext cx="4489703" cy="530352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линия на бедност в България за 2024 г.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91056"/>
            <a:ext cx="443484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1920240"/>
            <a:ext cx="3611880" cy="329184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2200" b="1" i="0">
                <a:solidFill>
                  <a:srgbClr val="12223A"/>
                </a:solidFill>
                <a:latin typeface="Arial"/>
              </a:rPr>
              <a:t>Материална бедност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834640"/>
            <a:ext cx="1572768" cy="1042415"/>
          </a:xfrm>
          <a:prstGeom prst="rect">
            <a:avLst/>
          </a:prstGeom>
          <a:solidFill>
            <a:srgbClr val="DE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7909560" y="2212848"/>
            <a:ext cx="1938528" cy="859536"/>
          </a:xfrm>
          <a:prstGeom prst="triangle">
            <a:avLst/>
          </a:prstGeom>
          <a:solidFill>
            <a:srgbClr val="7B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68512" y="3218688"/>
            <a:ext cx="384048" cy="658368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5" y="3154680"/>
            <a:ext cx="237744" cy="201168"/>
          </a:xfrm>
          <a:prstGeom prst="rect">
            <a:avLst/>
          </a:prstGeom>
          <a:solidFill>
            <a:srgbClr val="F9C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62872" y="3154680"/>
            <a:ext cx="237744" cy="201168"/>
          </a:xfrm>
          <a:prstGeom prst="rect">
            <a:avLst/>
          </a:prstGeom>
          <a:solidFill>
            <a:srgbClr val="F9C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loud 21"/>
          <p:cNvSpPr/>
          <p:nvPr/>
        </p:nvSpPr>
        <p:spPr>
          <a:xfrm>
            <a:off x="7406640" y="4370832"/>
            <a:ext cx="1005840" cy="566928"/>
          </a:xfrm>
          <a:prstGeom prst="cloud">
            <a:avLst/>
          </a:prstGeom>
          <a:solidFill>
            <a:srgbClr val="DB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79" y="5074920"/>
            <a:ext cx="2971800" cy="274320"/>
          </a:xfrm>
          <a:prstGeom prst="ellipse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5486400"/>
            <a:ext cx="3611880" cy="4572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1400" b="0" i="0">
                <a:solidFill>
                  <a:srgbClr val="4C5664"/>
                </a:solidFill>
                <a:latin typeface="Arial"/>
              </a:rPr>
              <a:t>Това е най-видимата форма,
но не и единствената.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272784"/>
            <a:ext cx="502920" cy="2011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r"/>
            <a:r>
              <a:rPr sz="1000" b="1" i="0">
                <a:solidFill>
                  <a:srgbClr val="87909D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8046720" cy="5029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2900" b="1" i="0">
                <a:solidFill>
                  <a:srgbClr val="12223A"/>
                </a:solidFill>
                <a:latin typeface="Arial"/>
              </a:rPr>
              <a:t>Бедността на ума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978408"/>
            <a:ext cx="1051560" cy="73152"/>
          </a:xfrm>
          <a:prstGeom prst="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8412480" cy="347472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1500" b="0" i="0">
                <a:solidFill>
                  <a:srgbClr val="4C5664"/>
                </a:solidFill>
                <a:latin typeface="Arial"/>
              </a:rPr>
              <a:t>Знанието е капитал, който не се губи.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384048"/>
            <a:ext cx="1783080" cy="347472"/>
          </a:xfrm>
          <a:prstGeom prst="round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ЗНАНИЕ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856231"/>
            <a:ext cx="5486400" cy="20574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>
                <a:solidFill>
                  <a:srgbClr val="2B5380"/>
                </a:solidFill>
                <a:latin typeface="Arial"/>
              </a:rPr>
              <a:t>• </a:t>
            </a:r>
            <a:r>
              <a:rPr sz="2100">
                <a:solidFill>
                  <a:srgbClr val="4C5664"/>
                </a:solidFill>
                <a:latin typeface="Arial"/>
              </a:rPr>
              <a:t>Липсата на образование създава цикъл на бедност.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>
                <a:solidFill>
                  <a:srgbClr val="2B5380"/>
                </a:solidFill>
                <a:latin typeface="Arial"/>
              </a:rPr>
              <a:t>• </a:t>
            </a:r>
            <a:r>
              <a:rPr sz="2100">
                <a:solidFill>
                  <a:srgbClr val="4C5664"/>
                </a:solidFill>
                <a:latin typeface="Arial"/>
              </a:rPr>
              <a:t>Недостигът на знания ни прави лесни за манипулация.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>
                <a:solidFill>
                  <a:srgbClr val="2B5380"/>
                </a:solidFill>
                <a:latin typeface="Arial"/>
              </a:rPr>
              <a:t>• </a:t>
            </a:r>
            <a:r>
              <a:rPr sz="2100">
                <a:solidFill>
                  <a:srgbClr val="4C5664"/>
                </a:solidFill>
                <a:latin typeface="Arial"/>
              </a:rPr>
              <a:t>Образованието отваря избори, професии и глас.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" y="4800600"/>
            <a:ext cx="5897880" cy="960120"/>
          </a:xfrm>
          <a:prstGeom prst="round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" y="4736592"/>
            <a:ext cx="589788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4736592"/>
            <a:ext cx="128016" cy="960120"/>
          </a:xfrm>
          <a:prstGeom prst="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946904"/>
            <a:ext cx="5394960" cy="3931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1700" b="1" i="0">
                <a:solidFill>
                  <a:srgbClr val="12223A"/>
                </a:solidFill>
                <a:latin typeface="Arial"/>
              </a:rPr>
              <a:t>Статистика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5504688"/>
            <a:ext cx="5394960" cy="274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1400" b="0" i="0">
                <a:solidFill>
                  <a:srgbClr val="4C5664"/>
                </a:solidFill>
                <a:latin typeface="Arial"/>
              </a:rPr>
              <a:t>Рискът от бедност при висшистите е около 10 пъти по-нисък, отколкото при хората без образование.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3488" y="1691640"/>
            <a:ext cx="3566160" cy="4041648"/>
          </a:xfrm>
          <a:prstGeom prst="roundRect">
            <a:avLst/>
          </a:prstGeom>
          <a:solidFill>
            <a:srgbClr val="E3EBF6"/>
          </a:solidFill>
          <a:ln w="12700">
            <a:solidFill>
              <a:srgbClr val="D2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8120" y="2816352"/>
            <a:ext cx="323697" cy="1564538"/>
          </a:xfrm>
          <a:prstGeom prst="round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82859" y="3032150"/>
            <a:ext cx="194218" cy="377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82859" y="3204789"/>
            <a:ext cx="194218" cy="377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06557" y="2730032"/>
            <a:ext cx="323697" cy="1564538"/>
          </a:xfrm>
          <a:prstGeom prst="round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1296" y="2945831"/>
            <a:ext cx="194218" cy="377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1296" y="3118469"/>
            <a:ext cx="194218" cy="377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4994" y="2643713"/>
            <a:ext cx="323697" cy="1564538"/>
          </a:xfrm>
          <a:prstGeom prst="roundRect">
            <a:avLst/>
          </a:prstGeom>
          <a:solidFill>
            <a:srgbClr val="468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59733" y="2859511"/>
            <a:ext cx="194218" cy="377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59733" y="3032150"/>
            <a:ext cx="194218" cy="377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10220" y="4348520"/>
            <a:ext cx="1564538" cy="107899"/>
          </a:xfrm>
          <a:prstGeom prst="rect">
            <a:avLst/>
          </a:prstGeom>
          <a:solidFill>
            <a:srgbClr val="4C5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3424428"/>
            <a:ext cx="281635" cy="452628"/>
          </a:xfrm>
          <a:prstGeom prst="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12172" y="3122676"/>
            <a:ext cx="281635" cy="754380"/>
          </a:xfrm>
          <a:prstGeom prst="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34625" y="2820924"/>
            <a:ext cx="281635" cy="1056132"/>
          </a:xfrm>
          <a:prstGeom prst="rect">
            <a:avLst/>
          </a:prstGeom>
          <a:solidFill>
            <a:srgbClr val="468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9340596" y="2820924"/>
            <a:ext cx="1458468" cy="281635"/>
          </a:xfrm>
          <a:prstGeom prst="rightArrow">
            <a:avLst/>
          </a:prstGeom>
          <a:solidFill>
            <a:srgbClr val="F9C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5212080"/>
            <a:ext cx="2834640" cy="3108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1700" b="1" i="0">
                <a:solidFill>
                  <a:srgbClr val="468E65"/>
                </a:solidFill>
                <a:latin typeface="Arial"/>
              </a:rPr>
              <a:t>учене → възможности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272784"/>
            <a:ext cx="502920" cy="2011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r"/>
            <a:r>
              <a:rPr sz="1000" b="1" i="0">
                <a:solidFill>
                  <a:srgbClr val="87909D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5029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rial"/>
              </a:rPr>
              <a:t>Духовната бедност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978408"/>
            <a:ext cx="1051560" cy="73152"/>
          </a:xfrm>
          <a:prstGeom prst="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24712"/>
            <a:ext cx="8412480" cy="347472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1500" b="0" i="0">
                <a:solidFill>
                  <a:srgbClr val="DEE6F0"/>
                </a:solidFill>
                <a:latin typeface="Arial"/>
              </a:rPr>
              <a:t>Празният дух в пълния костюм.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384048"/>
            <a:ext cx="1783080" cy="347472"/>
          </a:xfrm>
          <a:prstGeom prst="round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ЦЕННОСТИ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847088"/>
            <a:ext cx="5897880" cy="2788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>
                <a:solidFill>
                  <a:srgbClr val="F9C449"/>
                </a:solidFill>
                <a:latin typeface="Arial"/>
              </a:rPr>
              <a:t>• </a:t>
            </a:r>
            <a:r>
              <a:rPr sz="2100">
                <a:solidFill>
                  <a:srgbClr val="E6ECF6"/>
                </a:solidFill>
                <a:latin typeface="Arial"/>
              </a:rPr>
              <a:t>Липса на емпатия, ценности и чувство за отговорност.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>
                <a:solidFill>
                  <a:srgbClr val="F9C449"/>
                </a:solidFill>
                <a:latin typeface="Arial"/>
              </a:rPr>
              <a:t>• </a:t>
            </a:r>
            <a:r>
              <a:rPr sz="2100">
                <a:solidFill>
                  <a:srgbClr val="E6ECF6"/>
                </a:solidFill>
                <a:latin typeface="Arial"/>
              </a:rPr>
              <a:t>Можеш да имаш милиони, но да си просяк в душата си.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300" b="1">
                <a:solidFill>
                  <a:srgbClr val="F9C449"/>
                </a:solidFill>
                <a:latin typeface="Arial"/>
              </a:rPr>
              <a:t>• </a:t>
            </a:r>
            <a:r>
              <a:rPr sz="2100">
                <a:solidFill>
                  <a:srgbClr val="E6ECF6"/>
                </a:solidFill>
                <a:latin typeface="Arial"/>
              </a:rPr>
              <a:t>Симптоми: безразличие, егоизъм, липса на културни потребности.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554480"/>
            <a:ext cx="3493008" cy="4407408"/>
          </a:xfrm>
          <a:prstGeom prst="roundRect">
            <a:avLst/>
          </a:prstGeom>
          <a:solidFill>
            <a:srgbClr val="182D4B"/>
          </a:solidFill>
          <a:ln w="12700">
            <a:solidFill>
              <a:srgbClr val="4A6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77072" y="1847088"/>
            <a:ext cx="1060704" cy="1060704"/>
          </a:xfrm>
          <a:prstGeom prst="ellipse">
            <a:avLst/>
          </a:prstGeom>
          <a:solidFill>
            <a:srgbClr val="E2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pezoid 10"/>
          <p:cNvSpPr/>
          <p:nvPr/>
        </p:nvSpPr>
        <p:spPr>
          <a:xfrm>
            <a:off x="8110727" y="2980944"/>
            <a:ext cx="1993392" cy="2249424"/>
          </a:xfrm>
          <a:prstGeom prst="trapezoid">
            <a:avLst/>
          </a:prstGeom>
          <a:solidFill>
            <a:srgbClr val="2D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8577072" y="3017520"/>
            <a:ext cx="1005840" cy="9144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942832" y="3200400"/>
            <a:ext cx="274320" cy="420624"/>
          </a:xfrm>
          <a:prstGeom prst="triangle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art 13"/>
          <p:cNvSpPr/>
          <p:nvPr/>
        </p:nvSpPr>
        <p:spPr>
          <a:xfrm>
            <a:off x="8641080" y="4370832"/>
            <a:ext cx="1104138" cy="960120"/>
          </a:xfrm>
          <a:prstGeom prst="hear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7520" y="4678070"/>
            <a:ext cx="268833" cy="26883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5468112"/>
            <a:ext cx="278892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1300" b="1" i="0">
                <a:solidFill>
                  <a:srgbClr val="E5ECF6"/>
                </a:solidFill>
                <a:latin typeface="Arial"/>
              </a:rPr>
              <a:t>богатство без човечност = празнота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272784"/>
            <a:ext cx="502920" cy="2011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r"/>
            <a:r>
              <a:rPr sz="1000" b="1" i="0">
                <a:solidFill>
                  <a:srgbClr val="ACB9CA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8046720" cy="5029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2900" b="1" i="0">
                <a:solidFill>
                  <a:srgbClr val="12223A"/>
                </a:solidFill>
                <a:latin typeface="Arial"/>
              </a:rPr>
              <a:t>Парадоксът на богатството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978408"/>
            <a:ext cx="1051560" cy="73152"/>
          </a:xfrm>
          <a:prstGeom prst="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8412480" cy="347472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1500" b="0" i="0">
                <a:solidFill>
                  <a:srgbClr val="4C5664"/>
                </a:solidFill>
                <a:latin typeface="Arial"/>
              </a:rPr>
              <a:t>Материалното и духовното богатство невинаги вървят заедно.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384048"/>
            <a:ext cx="1783080" cy="347472"/>
          </a:xfrm>
          <a:prstGeom prst="round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КОНТРАСТ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1847088"/>
            <a:ext cx="4892040" cy="2926080"/>
          </a:xfrm>
          <a:prstGeom prst="round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48920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783080"/>
            <a:ext cx="128016" cy="2926080"/>
          </a:xfrm>
          <a:prstGeom prst="rect">
            <a:avLst/>
          </a:prstGeom>
          <a:solidFill>
            <a:srgbClr val="468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1993392"/>
            <a:ext cx="4389120" cy="3931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1700" b="1" i="0">
                <a:solidFill>
                  <a:srgbClr val="12223A"/>
                </a:solidFill>
                <a:latin typeface="Arial"/>
              </a:rPr>
              <a:t>Материално беден,
но духовно богат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2551176"/>
            <a:ext cx="4389120" cy="19933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1400" b="0" i="0">
                <a:solidFill>
                  <a:srgbClr val="4C5664"/>
                </a:solidFill>
                <a:latin typeface="Arial"/>
              </a:rPr>
              <a:t>Хора с малко средства, но с висок морал, доброта и готовност да помагат.
Пример: Дядо Добри.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847088"/>
            <a:ext cx="4892040" cy="2926080"/>
          </a:xfrm>
          <a:prstGeom prst="round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783080"/>
            <a:ext cx="48920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1783080"/>
            <a:ext cx="128016" cy="2926080"/>
          </a:xfrm>
          <a:prstGeom prst="rect">
            <a:avLst/>
          </a:prstGeom>
          <a:solidFill>
            <a:srgbClr val="B84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1993392"/>
            <a:ext cx="4389120" cy="3931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1700" b="1" i="0">
                <a:solidFill>
                  <a:srgbClr val="12223A"/>
                </a:solidFill>
                <a:latin typeface="Arial"/>
              </a:rPr>
              <a:t>Материално богат,
но духовно беден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551176"/>
            <a:ext cx="4389120" cy="19933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1400" b="0" i="0">
                <a:solidFill>
                  <a:srgbClr val="4C5664"/>
                </a:solidFill>
                <a:latin typeface="Arial"/>
              </a:rPr>
              <a:t>Хора с огромни възможности, но без капка човечност, състрадание или културна чувствителност.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5696712" y="2852928"/>
            <a:ext cx="786384" cy="475488"/>
          </a:xfrm>
          <a:prstGeom prst="leftRightArrow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72768" y="5102352"/>
            <a:ext cx="9052560" cy="768096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i="1" b="1">
                <a:solidFill>
                  <a:srgbClr val="F9C449"/>
                </a:solidFill>
                <a:latin typeface="Arial"/>
              </a:rPr>
              <a:t>"Най-бедният човек е този, който има само пари."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272784"/>
            <a:ext cx="502920" cy="2011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r"/>
            <a:r>
              <a:rPr sz="1000" b="1" i="0">
                <a:solidFill>
                  <a:srgbClr val="87909D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8046720" cy="5029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2900" b="1" i="0">
                <a:solidFill>
                  <a:srgbClr val="12223A"/>
                </a:solidFill>
                <a:latin typeface="Arial"/>
              </a:rPr>
              <a:t>Как се борим с бедността?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978408"/>
            <a:ext cx="1051560" cy="73152"/>
          </a:xfrm>
          <a:prstGeom prst="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24712"/>
            <a:ext cx="8412480" cy="347472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1500" b="0" i="0">
                <a:solidFill>
                  <a:srgbClr val="4C5664"/>
                </a:solidFill>
                <a:latin typeface="Arial"/>
              </a:rPr>
              <a:t>Трите измерения изискват три вида действие.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384048"/>
            <a:ext cx="1783080" cy="347472"/>
          </a:xfrm>
          <a:prstGeom prst="round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ДЕЙСТВИЕ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828800"/>
            <a:ext cx="3063240" cy="35661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11095" y="2121408"/>
            <a:ext cx="804672" cy="804672"/>
          </a:xfrm>
          <a:prstGeom prst="ellipse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9696" y="2267712"/>
            <a:ext cx="34747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2926080"/>
            <a:ext cx="178308" cy="861822"/>
          </a:xfrm>
          <a:prstGeom prst="round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54733" y="3044952"/>
            <a:ext cx="106984" cy="208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54733" y="3140049"/>
            <a:ext cx="106984" cy="208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33041" y="2878531"/>
            <a:ext cx="178308" cy="861822"/>
          </a:xfrm>
          <a:prstGeom prst="round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68703" y="2997403"/>
            <a:ext cx="106984" cy="208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68703" y="3092500"/>
            <a:ext cx="106984" cy="208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47011" y="2830982"/>
            <a:ext cx="178308" cy="861822"/>
          </a:xfrm>
          <a:prstGeom prst="roundRect">
            <a:avLst/>
          </a:prstGeom>
          <a:solidFill>
            <a:srgbClr val="468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82672" y="2949854"/>
            <a:ext cx="106984" cy="208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82672" y="3044952"/>
            <a:ext cx="106984" cy="208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59636" y="3770071"/>
            <a:ext cx="861822" cy="59436"/>
          </a:xfrm>
          <a:prstGeom prst="rect">
            <a:avLst/>
          </a:prstGeom>
          <a:solidFill>
            <a:srgbClr val="4C5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315968"/>
            <a:ext cx="2487168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1800" b="1" i="0">
                <a:solidFill>
                  <a:srgbClr val="12223A"/>
                </a:solidFill>
                <a:latin typeface="Arial"/>
              </a:rPr>
              <a:t>Четене и учене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7864" y="4800600"/>
            <a:ext cx="22402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1300" b="0" i="0">
                <a:solidFill>
                  <a:srgbClr val="4C5664"/>
                </a:solidFill>
                <a:latin typeface="Arial"/>
              </a:rPr>
              <a:t>срещу бедността на ума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17136" y="1828800"/>
            <a:ext cx="3063240" cy="35661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41848" y="2121408"/>
            <a:ext cx="804672" cy="804672"/>
          </a:xfrm>
          <a:prstGeom prst="ellipse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2267712"/>
            <a:ext cx="34747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Heart 24"/>
          <p:cNvSpPr/>
          <p:nvPr/>
        </p:nvSpPr>
        <p:spPr>
          <a:xfrm>
            <a:off x="5596128" y="2999232"/>
            <a:ext cx="841247" cy="731520"/>
          </a:xfrm>
          <a:prstGeom prst="hear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44844" y="3233318"/>
            <a:ext cx="204825" cy="204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9744" y="4315968"/>
            <a:ext cx="2487168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1800" b="1" i="0">
                <a:solidFill>
                  <a:srgbClr val="12223A"/>
                </a:solidFill>
                <a:latin typeface="Arial"/>
              </a:rPr>
              <a:t>Доброволчество и помощ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8616" y="4800600"/>
            <a:ext cx="22402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1300" b="0" i="0">
                <a:solidFill>
                  <a:srgbClr val="4C5664"/>
                </a:solidFill>
                <a:latin typeface="Arial"/>
              </a:rPr>
              <a:t>срещу духовната бедност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7888" y="1828800"/>
            <a:ext cx="3063240" cy="35661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72600" y="2121408"/>
            <a:ext cx="804672" cy="804672"/>
          </a:xfrm>
          <a:prstGeom prst="ellipse">
            <a:avLst/>
          </a:prstGeom>
          <a:solidFill>
            <a:srgbClr val="468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2267712"/>
            <a:ext cx="34747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3509010"/>
            <a:ext cx="192024" cy="308610"/>
          </a:xfrm>
          <a:prstGeom prst="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32036" y="3303270"/>
            <a:ext cx="192024" cy="514350"/>
          </a:xfrm>
          <a:prstGeom prst="rect">
            <a:avLst/>
          </a:prstGeom>
          <a:solidFill>
            <a:srgbClr val="2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20072" y="3097530"/>
            <a:ext cx="192024" cy="720090"/>
          </a:xfrm>
          <a:prstGeom prst="rect">
            <a:avLst/>
          </a:prstGeom>
          <a:solidFill>
            <a:srgbClr val="468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9246870" y="3097530"/>
            <a:ext cx="994409" cy="192024"/>
          </a:xfrm>
          <a:prstGeom prst="rightArrow">
            <a:avLst/>
          </a:prstGeom>
          <a:solidFill>
            <a:srgbClr val="F9C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0496" y="4315968"/>
            <a:ext cx="2487168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1800" b="1" i="0">
                <a:solidFill>
                  <a:srgbClr val="12223A"/>
                </a:solidFill>
                <a:latin typeface="Arial"/>
              </a:rPr>
              <a:t>Икономическа активност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59367" y="4800600"/>
            <a:ext cx="22402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1300" b="0" i="0">
                <a:solidFill>
                  <a:srgbClr val="4C5664"/>
                </a:solidFill>
                <a:latin typeface="Arial"/>
              </a:rPr>
              <a:t>срещу материалната бедност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272784"/>
            <a:ext cx="502920" cy="2011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r"/>
            <a:r>
              <a:rPr sz="1000" b="1" i="0">
                <a:solidFill>
                  <a:srgbClr val="87909D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0040"/>
            <a:ext cx="4023360" cy="402336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828800"/>
            <a:ext cx="10012680" cy="11155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Arial"/>
              </a:rPr>
              <a:t>Истинското богатство е в това, което даваш,
а не само в това, което притежаваш.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3886200"/>
            <a:ext cx="9710928" cy="1078992"/>
          </a:xfrm>
          <a:prstGeom prst="roundRect">
            <a:avLst/>
          </a:prstGeom>
          <a:solidFill>
            <a:srgbClr val="1C3455"/>
          </a:solidFill>
          <a:ln w="12700">
            <a:solidFill>
              <a:srgbClr val="546F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64208" y="4187952"/>
            <a:ext cx="8851392" cy="420624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2200" b="1" i="0">
                <a:solidFill>
                  <a:srgbClr val="F9C449"/>
                </a:solidFill>
                <a:latin typeface="Arial"/>
              </a:rPr>
              <a:t>Коя бедност ви плаши повече - тази на портфейла или тази на сърцето?</a:t>
            </a:r>
          </a:p>
        </p:txBody>
      </p:sp>
      <p:sp>
        <p:nvSpPr>
          <p:cNvPr id="8" name="Heart 7"/>
          <p:cNvSpPr/>
          <p:nvPr/>
        </p:nvSpPr>
        <p:spPr>
          <a:xfrm>
            <a:off x="5074920" y="5504688"/>
            <a:ext cx="757123" cy="658368"/>
          </a:xfrm>
          <a:prstGeom prst="heart">
            <a:avLst/>
          </a:prstGeom>
          <a:solidFill>
            <a:srgbClr val="EE8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98765" y="5715365"/>
            <a:ext cx="184343" cy="1843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199632" y="5522976"/>
            <a:ext cx="530352" cy="530352"/>
          </a:xfrm>
          <a:prstGeom prst="ellipse">
            <a:avLst/>
          </a:prstGeom>
          <a:solidFill>
            <a:srgbClr val="E1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5605272"/>
            <a:ext cx="256032" cy="219456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ctr"/>
            <a:r>
              <a:rPr sz="2200" b="1" i="0">
                <a:solidFill>
                  <a:srgbClr val="12223A"/>
                </a:solidFill>
                <a:latin typeface="Arial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272784"/>
            <a:ext cx="502920" cy="2011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normAutofit/>
          </a:bodyPr>
          <a:lstStyle/>
          <a:p>
            <a:pPr algn="r"/>
            <a:r>
              <a:rPr sz="1000" b="1" i="0">
                <a:solidFill>
                  <a:srgbClr val="ACB9CA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Бедността: отвъд празния джоб</dc:title>
  <dc:subject>Материални, интелектуални и духовни измерения</dc:subject>
  <dc:creator/>
  <cp:keywords>Google Slides, Bulgarian, poverty, presentation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bg-BG</dc:language>
</cp:coreProperties>
</file>